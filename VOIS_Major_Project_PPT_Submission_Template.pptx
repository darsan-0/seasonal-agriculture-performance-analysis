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AICTE STU ID : (its available in your offer letter)</a:t>
            </a:r>
          </a:p>
        </p:txBody>
      </p:sp>
      <p:sp>
        <p:nvSpPr>
          <p:cNvPr id="5" name="TextBox 4">
            <a:extLst>
              <a:ext uri="{FF2B5EF4-FFF2-40B4-BE49-F238E27FC236}">
                <a16:creationId xmlns:a16="http://schemas.microsoft.com/office/drawing/2014/main" id="{E9466EE8-B1DD-515E-C08D-7322F8AF406D}"/>
              </a:ext>
            </a:extLst>
          </p:cNvPr>
          <p:cNvSpPr txBox="1"/>
          <p:nvPr/>
        </p:nvSpPr>
        <p:spPr>
          <a:xfrm>
            <a:off x="3676262" y="2958017"/>
            <a:ext cx="4537332" cy="369332"/>
          </a:xfrm>
          <a:prstGeom prst="rect">
            <a:avLst/>
          </a:prstGeom>
          <a:noFill/>
        </p:spPr>
        <p:txBody>
          <a:bodyPr wrap="none" rtlCol="0">
            <a:spAutoFit/>
          </a:bodyPr>
          <a:lstStyle/>
          <a:p>
            <a:r>
              <a:rPr lang="en-IN" dirty="0"/>
              <a:t>Seasonal Agriculture Performance Analysis</a:t>
            </a:r>
          </a:p>
        </p:txBody>
      </p:sp>
      <p:sp>
        <p:nvSpPr>
          <p:cNvPr id="8" name="Text Placeholder 7">
            <a:extLst>
              <a:ext uri="{FF2B5EF4-FFF2-40B4-BE49-F238E27FC236}">
                <a16:creationId xmlns:a16="http://schemas.microsoft.com/office/drawing/2014/main" id="{6DE29264-A90A-67BC-98BA-B9957215E40E}"/>
              </a:ext>
            </a:extLst>
          </p:cNvPr>
          <p:cNvSpPr>
            <a:spLocks noGrp="1"/>
          </p:cNvSpPr>
          <p:nvPr>
            <p:ph type="body" sz="quarter" idx="11"/>
          </p:nvPr>
        </p:nvSpPr>
        <p:spPr>
          <a:xfrm>
            <a:off x="826471" y="3588198"/>
            <a:ext cx="4220845" cy="861497"/>
          </a:xfrm>
        </p:spPr>
        <p:txBody>
          <a:bodyPr/>
          <a:lstStyle/>
          <a:p>
            <a:r>
              <a:rPr lang="en-US" b="0" dirty="0">
                <a:solidFill>
                  <a:schemeClr val="tx1"/>
                </a:solidFill>
              </a:rPr>
              <a:t>Student Name -</a:t>
            </a:r>
            <a:endParaRPr lang="en-IN" dirty="0">
              <a:solidFill>
                <a:schemeClr val="tx1"/>
              </a:solidFill>
            </a:endParaRPr>
          </a:p>
          <a:p>
            <a:r>
              <a:rPr lang="en-US" b="0" dirty="0">
                <a:solidFill>
                  <a:schemeClr val="tx1"/>
                </a:solidFill>
              </a:rPr>
              <a:t>College Name- </a:t>
            </a:r>
            <a:endParaRPr lang="en-IN" dirty="0">
              <a:solidFill>
                <a:schemeClr val="tx1"/>
              </a:solidFill>
            </a:endParaRPr>
          </a:p>
          <a:p>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7" name="TextBox 6">
            <a:extLst>
              <a:ext uri="{FF2B5EF4-FFF2-40B4-BE49-F238E27FC236}">
                <a16:creationId xmlns:a16="http://schemas.microsoft.com/office/drawing/2014/main" id="{D8CEBD70-1EC3-81C9-EBC6-5B159EAB06CB}"/>
              </a:ext>
            </a:extLst>
          </p:cNvPr>
          <p:cNvSpPr txBox="1"/>
          <p:nvPr/>
        </p:nvSpPr>
        <p:spPr>
          <a:xfrm>
            <a:off x="754602" y="1520889"/>
            <a:ext cx="7585136" cy="3970318"/>
          </a:xfrm>
          <a:prstGeom prst="rect">
            <a:avLst/>
          </a:prstGeom>
          <a:noFill/>
        </p:spPr>
        <p:txBody>
          <a:bodyPr wrap="square" rtlCol="0">
            <a:spAutoFit/>
          </a:bodyPr>
          <a:lstStyle/>
          <a:p>
            <a:r>
              <a:rPr lang="en-US" dirty="0"/>
              <a:t>Agricultural activities are influenced by seasonal variations in environmental conditions,</a:t>
            </a:r>
          </a:p>
          <a:p>
            <a:r>
              <a:rPr lang="en-US" dirty="0"/>
              <a:t>farming practices, resource availability and market conditions. As a result, agricultural</a:t>
            </a:r>
          </a:p>
          <a:p>
            <a:r>
              <a:rPr lang="en-US" dirty="0"/>
              <a:t>performance may differ from one season to another.</a:t>
            </a:r>
          </a:p>
          <a:p>
            <a:r>
              <a:rPr lang="en-US" dirty="0"/>
              <a:t>However, raw agricultural data does not clearly explain how agricultural performance changes</a:t>
            </a:r>
          </a:p>
          <a:p>
            <a:r>
              <a:rPr lang="en-US" dirty="0"/>
              <a:t>across seasons or what patterns can be observed in different seasonal conditions.</a:t>
            </a:r>
          </a:p>
          <a:p>
            <a:r>
              <a:rPr lang="en-US" dirty="0"/>
              <a:t>The problem is to analyze the given agricultural dataset and investigate seasonal differences</a:t>
            </a:r>
          </a:p>
          <a:p>
            <a:r>
              <a:rPr lang="en-US" dirty="0"/>
              <a:t>in agricultural performance by identifying meaningful patterns, trends, relationships and</a:t>
            </a:r>
          </a:p>
          <a:p>
            <a:r>
              <a:rPr lang="en-US" dirty="0"/>
              <a:t>variations within the available data.</a:t>
            </a:r>
            <a:endParaRPr lang="en-IN" dirty="0"/>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1" name="TextBox 10">
            <a:extLst>
              <a:ext uri="{FF2B5EF4-FFF2-40B4-BE49-F238E27FC236}">
                <a16:creationId xmlns:a16="http://schemas.microsoft.com/office/drawing/2014/main" id="{EC86EBC5-BF3A-6CD4-9C4E-3E18FC27BBB0}"/>
              </a:ext>
            </a:extLst>
          </p:cNvPr>
          <p:cNvSpPr txBox="1"/>
          <p:nvPr/>
        </p:nvSpPr>
        <p:spPr>
          <a:xfrm>
            <a:off x="675957" y="1413216"/>
            <a:ext cx="6102220" cy="5016758"/>
          </a:xfrm>
          <a:prstGeom prst="rect">
            <a:avLst/>
          </a:prstGeom>
          <a:noFill/>
        </p:spPr>
        <p:txBody>
          <a:bodyPr wrap="square">
            <a:spAutoFit/>
          </a:bodyPr>
          <a:lstStyle/>
          <a:p>
            <a:pPr>
              <a:buNone/>
            </a:pPr>
            <a:r>
              <a:rPr lang="en-IN" sz="4000" b="1" dirty="0"/>
              <a:t>Project Description</a:t>
            </a:r>
          </a:p>
          <a:p>
            <a:pPr>
              <a:buNone/>
            </a:pPr>
            <a:endParaRPr lang="en-IN" sz="4000" dirty="0"/>
          </a:p>
          <a:p>
            <a:pPr>
              <a:buNone/>
            </a:pPr>
            <a:r>
              <a:rPr lang="en-IN" sz="2400" dirty="0"/>
              <a:t>This project </a:t>
            </a:r>
            <a:r>
              <a:rPr lang="en-IN" sz="2400" dirty="0" err="1"/>
              <a:t>analyzes</a:t>
            </a:r>
            <a:r>
              <a:rPr lang="en-IN" sz="2400" dirty="0"/>
              <a:t> agricultural data across different seasons to identify patterns and variations in crop production, environmental conditions, resource usage, and economic performance. Using data cleaning, analysis, and visualization techniques, the project compares seasonal agricultural performance and provides meaningful insights and recommendations for better agricultural planning.</a:t>
            </a:r>
          </a:p>
        </p:txBody>
      </p:sp>
    </p:spTree>
    <p:extLst>
      <p:ext uri="{BB962C8B-B14F-4D97-AF65-F5344CB8AC3E}">
        <p14:creationId xmlns:p14="http://schemas.microsoft.com/office/powerpoint/2010/main" val="3696770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679258"/>
            <a:ext cx="7904481" cy="3990023"/>
          </a:xfrm>
        </p:spPr>
        <p:txBody>
          <a:bodyPr>
            <a:normAutofit fontScale="92500" lnSpcReduction="20000"/>
          </a:bodyPr>
          <a:lstStyle/>
          <a:p>
            <a:pPr lvl="0"/>
            <a:r>
              <a:rPr lang="en-IN" sz="3600" dirty="0"/>
              <a:t>Farmers and agricultural workers </a:t>
            </a:r>
          </a:p>
          <a:p>
            <a:pPr lvl="0"/>
            <a:r>
              <a:rPr lang="en-IN" sz="3600" dirty="0"/>
              <a:t>Agricultural planners and policymakers </a:t>
            </a:r>
          </a:p>
          <a:p>
            <a:pPr lvl="0"/>
            <a:r>
              <a:rPr lang="en-IN" sz="3600" dirty="0"/>
              <a:t>Government and agricultural departments </a:t>
            </a:r>
          </a:p>
          <a:p>
            <a:pPr lvl="0"/>
            <a:r>
              <a:rPr lang="en-IN" sz="3600" dirty="0"/>
              <a:t>Researchers and data analysts </a:t>
            </a:r>
          </a:p>
          <a:p>
            <a:pPr lvl="0"/>
            <a:r>
              <a:rPr lang="en-IN" sz="3600" dirty="0"/>
              <a:t>Agricultural organizations and stakeholders </a:t>
            </a:r>
          </a:p>
          <a:p>
            <a:pPr lvl="0"/>
            <a:r>
              <a:rPr lang="en-IN" sz="3600" dirty="0"/>
              <a:t>Students and educational institutions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118406" y="1315059"/>
            <a:ext cx="9027702" cy="5243448"/>
          </a:xfrm>
        </p:spPr>
        <p:txBody>
          <a:bodyPr/>
          <a:lstStyle/>
          <a:p>
            <a:pPr lvl="0"/>
            <a:r>
              <a:rPr lang="en-IN" b="1" dirty="0"/>
              <a:t>Python</a:t>
            </a:r>
            <a:r>
              <a:rPr lang="en-IN" dirty="0"/>
              <a:t> – Data analysis and processing</a:t>
            </a:r>
          </a:p>
          <a:p>
            <a:pPr lvl="0"/>
            <a:r>
              <a:rPr lang="en-IN" b="1" dirty="0"/>
              <a:t>Jupyter Notebook</a:t>
            </a:r>
            <a:r>
              <a:rPr lang="en-IN" dirty="0"/>
              <a:t> – Analysis and project documentation</a:t>
            </a:r>
          </a:p>
          <a:p>
            <a:pPr lvl="0"/>
            <a:r>
              <a:rPr lang="en-IN" b="1" dirty="0"/>
              <a:t>Pandas &amp; NumPy</a:t>
            </a:r>
            <a:r>
              <a:rPr lang="en-IN" dirty="0"/>
              <a:t> – Data cleaning and manipulation</a:t>
            </a:r>
          </a:p>
          <a:p>
            <a:pPr lvl="0"/>
            <a:r>
              <a:rPr lang="en-IN" b="1" dirty="0"/>
              <a:t>Matplotlib &amp; Seaborn</a:t>
            </a:r>
            <a:r>
              <a:rPr lang="en-IN" dirty="0"/>
              <a:t> – Data visualization</a:t>
            </a:r>
          </a:p>
          <a:p>
            <a:pPr lvl="0"/>
            <a:r>
              <a:rPr lang="en-IN" b="1" dirty="0"/>
              <a:t>Statistical Analysis</a:t>
            </a:r>
            <a:r>
              <a:rPr lang="en-IN" dirty="0"/>
              <a:t> – Identifying patterns, trends, relationships, and seasonal variations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B8414672-713C-FF3C-D2C7-980F8E8113F9}"/>
              </a:ext>
            </a:extLst>
          </p:cNvPr>
          <p:cNvPicPr>
            <a:picLocks noChangeAspect="1"/>
          </p:cNvPicPr>
          <p:nvPr/>
        </p:nvPicPr>
        <p:blipFill>
          <a:blip r:embed="rId3"/>
          <a:stretch>
            <a:fillRect/>
          </a:stretch>
        </p:blipFill>
        <p:spPr>
          <a:xfrm>
            <a:off x="4359327" y="1531823"/>
            <a:ext cx="5047102" cy="3571341"/>
          </a:xfrm>
          <a:prstGeom prst="rect">
            <a:avLst/>
          </a:prstGeom>
        </p:spPr>
      </p:pic>
      <p:sp>
        <p:nvSpPr>
          <p:cNvPr id="12" name="TextBox 11">
            <a:extLst>
              <a:ext uri="{FF2B5EF4-FFF2-40B4-BE49-F238E27FC236}">
                <a16:creationId xmlns:a16="http://schemas.microsoft.com/office/drawing/2014/main" id="{EC84F32B-2A36-6DDC-3C48-2D632657560E}"/>
              </a:ext>
            </a:extLst>
          </p:cNvPr>
          <p:cNvSpPr txBox="1"/>
          <p:nvPr/>
        </p:nvSpPr>
        <p:spPr>
          <a:xfrm>
            <a:off x="744620" y="1335312"/>
            <a:ext cx="3191069" cy="4247317"/>
          </a:xfrm>
          <a:prstGeom prst="rect">
            <a:avLst/>
          </a:prstGeom>
          <a:noFill/>
        </p:spPr>
        <p:txBody>
          <a:bodyPr wrap="square">
            <a:spAutoFit/>
          </a:bodyPr>
          <a:lstStyle/>
          <a:p>
            <a:pPr>
              <a:buNone/>
            </a:pPr>
            <a:r>
              <a:rPr lang="en-IN" dirty="0"/>
              <a:t>The chart shows the </a:t>
            </a:r>
            <a:r>
              <a:rPr lang="en-IN" b="1" dirty="0"/>
              <a:t>distribution of agricultural records across different seasons</a:t>
            </a:r>
            <a:r>
              <a:rPr lang="en-IN" dirty="0"/>
              <a:t>. </a:t>
            </a:r>
            <a:r>
              <a:rPr lang="en-IN" b="1" dirty="0"/>
              <a:t>Kharif</a:t>
            </a:r>
            <a:r>
              <a:rPr lang="en-IN" dirty="0"/>
              <a:t> has the highest number of records, followed by </a:t>
            </a:r>
            <a:r>
              <a:rPr lang="en-IN" b="1" dirty="0"/>
              <a:t>Rabi</a:t>
            </a:r>
            <a:r>
              <a:rPr lang="en-IN" dirty="0"/>
              <a:t>, while </a:t>
            </a:r>
            <a:r>
              <a:rPr lang="en-IN" b="1" dirty="0"/>
              <a:t>Zaid</a:t>
            </a:r>
            <a:r>
              <a:rPr lang="en-IN" dirty="0"/>
              <a:t> has the lowest number of records. This indicates that the dataset contains more agricultural observations from the Kharif and Rabi seasons, which may provide more detailed insights for </a:t>
            </a:r>
            <a:r>
              <a:rPr lang="en-IN" dirty="0" err="1"/>
              <a:t>analyzing</a:t>
            </a:r>
            <a:r>
              <a:rPr lang="en-IN" dirty="0"/>
              <a:t> their seasonal performance.</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805EEBA8-D4C4-544C-8FFB-6B20A33BAE7E}"/>
              </a:ext>
            </a:extLst>
          </p:cNvPr>
          <p:cNvPicPr>
            <a:picLocks noChangeAspect="1"/>
          </p:cNvPicPr>
          <p:nvPr/>
        </p:nvPicPr>
        <p:blipFill>
          <a:blip r:embed="rId3"/>
          <a:stretch>
            <a:fillRect/>
          </a:stretch>
        </p:blipFill>
        <p:spPr>
          <a:xfrm>
            <a:off x="4422118" y="1797059"/>
            <a:ext cx="4950481" cy="3056164"/>
          </a:xfrm>
          <a:prstGeom prst="rect">
            <a:avLst/>
          </a:prstGeom>
        </p:spPr>
      </p:pic>
      <p:sp>
        <p:nvSpPr>
          <p:cNvPr id="12" name="TextBox 11">
            <a:extLst>
              <a:ext uri="{FF2B5EF4-FFF2-40B4-BE49-F238E27FC236}">
                <a16:creationId xmlns:a16="http://schemas.microsoft.com/office/drawing/2014/main" id="{65EC4F02-18E5-3C11-FD1F-6B44348CA501}"/>
              </a:ext>
            </a:extLst>
          </p:cNvPr>
          <p:cNvSpPr txBox="1"/>
          <p:nvPr/>
        </p:nvSpPr>
        <p:spPr>
          <a:xfrm>
            <a:off x="675957" y="1478482"/>
            <a:ext cx="3273640" cy="3693319"/>
          </a:xfrm>
          <a:prstGeom prst="rect">
            <a:avLst/>
          </a:prstGeom>
          <a:noFill/>
        </p:spPr>
        <p:txBody>
          <a:bodyPr wrap="square">
            <a:spAutoFit/>
          </a:bodyPr>
          <a:lstStyle/>
          <a:p>
            <a:pPr>
              <a:buNone/>
            </a:pPr>
            <a:r>
              <a:rPr lang="en-IN" dirty="0"/>
              <a:t>The chart shows the </a:t>
            </a:r>
            <a:r>
              <a:rPr lang="en-IN" b="1" dirty="0"/>
              <a:t>distribution of agricultural yield (tonnes/ha)</a:t>
            </a:r>
            <a:r>
              <a:rPr lang="en-IN" dirty="0"/>
              <a:t>. Most records have yield values concentrated in the lower range, while a small number of records have very high yield values. This indicates a </a:t>
            </a:r>
            <a:r>
              <a:rPr lang="en-IN" b="1" dirty="0"/>
              <a:t>right-skewed distribution</a:t>
            </a:r>
            <a:r>
              <a:rPr lang="en-IN" dirty="0"/>
              <a:t> and the presence of possible </a:t>
            </a:r>
            <a:r>
              <a:rPr lang="en-IN" b="1" dirty="0"/>
              <a:t>outliers</a:t>
            </a:r>
            <a:r>
              <a:rPr lang="en-IN" dirty="0"/>
              <a:t>, showing significant variation in agricultural productivity.</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E0DC13A-ABEE-13E5-5299-54DE785AF287}"/>
              </a:ext>
            </a:extLst>
          </p:cNvPr>
          <p:cNvPicPr>
            <a:picLocks noChangeAspect="1"/>
          </p:cNvPicPr>
          <p:nvPr/>
        </p:nvPicPr>
        <p:blipFill>
          <a:blip r:embed="rId3"/>
          <a:stretch>
            <a:fillRect/>
          </a:stretch>
        </p:blipFill>
        <p:spPr>
          <a:xfrm>
            <a:off x="4369234" y="1608410"/>
            <a:ext cx="5163264" cy="3187525"/>
          </a:xfrm>
          <a:prstGeom prst="rect">
            <a:avLst/>
          </a:prstGeom>
        </p:spPr>
      </p:pic>
      <p:sp>
        <p:nvSpPr>
          <p:cNvPr id="12" name="TextBox 11">
            <a:extLst>
              <a:ext uri="{FF2B5EF4-FFF2-40B4-BE49-F238E27FC236}">
                <a16:creationId xmlns:a16="http://schemas.microsoft.com/office/drawing/2014/main" id="{04F02F43-C717-B2D6-748F-39D25AE42AC2}"/>
              </a:ext>
            </a:extLst>
          </p:cNvPr>
          <p:cNvSpPr txBox="1"/>
          <p:nvPr/>
        </p:nvSpPr>
        <p:spPr>
          <a:xfrm>
            <a:off x="744908" y="1484740"/>
            <a:ext cx="3200400" cy="3970318"/>
          </a:xfrm>
          <a:prstGeom prst="rect">
            <a:avLst/>
          </a:prstGeom>
          <a:noFill/>
        </p:spPr>
        <p:txBody>
          <a:bodyPr wrap="square">
            <a:spAutoFit/>
          </a:bodyPr>
          <a:lstStyle/>
          <a:p>
            <a:pPr>
              <a:buNone/>
            </a:pPr>
            <a:r>
              <a:rPr lang="en-IN" dirty="0"/>
              <a:t>The chart shows the </a:t>
            </a:r>
            <a:r>
              <a:rPr lang="en-IN" b="1" dirty="0"/>
              <a:t>distribution of rainfall (mm)</a:t>
            </a:r>
            <a:r>
              <a:rPr lang="en-IN" dirty="0"/>
              <a:t> across agricultural records. Rainfall values are spread over a wide range, with most observations concentrated between approximately </a:t>
            </a:r>
            <a:r>
              <a:rPr lang="en-IN" b="1" dirty="0"/>
              <a:t>300 and 900 mm</a:t>
            </a:r>
            <a:r>
              <a:rPr lang="en-IN" dirty="0"/>
              <a:t>. The distribution shows variation in environmental conditions, which can be further </a:t>
            </a:r>
            <a:r>
              <a:rPr lang="en-IN" dirty="0" err="1"/>
              <a:t>analyzed</a:t>
            </a:r>
            <a:r>
              <a:rPr lang="en-IN" dirty="0"/>
              <a:t> to understand its impact on agricultural performance and crop yield.</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D38B092-FA7F-DC12-FE2F-6C17BDE0EF78}"/>
              </a:ext>
            </a:extLst>
          </p:cNvPr>
          <p:cNvPicPr>
            <a:picLocks noChangeAspect="1"/>
          </p:cNvPicPr>
          <p:nvPr/>
        </p:nvPicPr>
        <p:blipFill>
          <a:blip r:embed="rId3"/>
          <a:stretch>
            <a:fillRect/>
          </a:stretch>
        </p:blipFill>
        <p:spPr>
          <a:xfrm>
            <a:off x="4281926" y="1574631"/>
            <a:ext cx="5746972" cy="3547875"/>
          </a:xfrm>
          <a:prstGeom prst="rect">
            <a:avLst/>
          </a:prstGeom>
        </p:spPr>
      </p:pic>
      <p:sp>
        <p:nvSpPr>
          <p:cNvPr id="12" name="TextBox 11">
            <a:extLst>
              <a:ext uri="{FF2B5EF4-FFF2-40B4-BE49-F238E27FC236}">
                <a16:creationId xmlns:a16="http://schemas.microsoft.com/office/drawing/2014/main" id="{BFE7E3C7-D2EE-B025-49AB-154E7C0329C0}"/>
              </a:ext>
            </a:extLst>
          </p:cNvPr>
          <p:cNvSpPr txBox="1"/>
          <p:nvPr/>
        </p:nvSpPr>
        <p:spPr>
          <a:xfrm>
            <a:off x="940022" y="1574631"/>
            <a:ext cx="3155292" cy="3970318"/>
          </a:xfrm>
          <a:prstGeom prst="rect">
            <a:avLst/>
          </a:prstGeom>
          <a:noFill/>
        </p:spPr>
        <p:txBody>
          <a:bodyPr wrap="square">
            <a:spAutoFit/>
          </a:bodyPr>
          <a:lstStyle/>
          <a:p>
            <a:pPr>
              <a:buNone/>
            </a:pPr>
            <a:r>
              <a:rPr lang="en-IN" dirty="0"/>
              <a:t>The box plot shows the </a:t>
            </a:r>
            <a:r>
              <a:rPr lang="en-IN" b="1" dirty="0"/>
              <a:t>distribution of agricultural yield and potential outliers</a:t>
            </a:r>
            <a:r>
              <a:rPr lang="en-IN" dirty="0"/>
              <a:t>. Most yield values are concentrated in a low range, while several observations have unusually high values. These points are identified as </a:t>
            </a:r>
            <a:r>
              <a:rPr lang="en-IN" b="1" dirty="0"/>
              <a:t>potential outliers</a:t>
            </a:r>
            <a:r>
              <a:rPr lang="en-IN" dirty="0"/>
              <a:t>, indicating significant variation in agricultural productivity and requiring further investigation.</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C44407C-9CB1-8139-8185-9A3C63A76482}"/>
              </a:ext>
            </a:extLst>
          </p:cNvPr>
          <p:cNvPicPr>
            <a:picLocks noChangeAspect="1"/>
          </p:cNvPicPr>
          <p:nvPr/>
        </p:nvPicPr>
        <p:blipFill>
          <a:blip r:embed="rId3"/>
          <a:stretch>
            <a:fillRect/>
          </a:stretch>
        </p:blipFill>
        <p:spPr>
          <a:xfrm>
            <a:off x="3664543" y="2015234"/>
            <a:ext cx="6583069" cy="3247054"/>
          </a:xfrm>
          <a:prstGeom prst="rect">
            <a:avLst/>
          </a:prstGeom>
        </p:spPr>
      </p:pic>
      <p:sp>
        <p:nvSpPr>
          <p:cNvPr id="12" name="TextBox 11">
            <a:extLst>
              <a:ext uri="{FF2B5EF4-FFF2-40B4-BE49-F238E27FC236}">
                <a16:creationId xmlns:a16="http://schemas.microsoft.com/office/drawing/2014/main" id="{0994BB0E-5C6D-7476-9484-5AD31750C1AE}"/>
              </a:ext>
            </a:extLst>
          </p:cNvPr>
          <p:cNvSpPr txBox="1"/>
          <p:nvPr/>
        </p:nvSpPr>
        <p:spPr>
          <a:xfrm>
            <a:off x="840053" y="1608410"/>
            <a:ext cx="2911151" cy="4524315"/>
          </a:xfrm>
          <a:prstGeom prst="rect">
            <a:avLst/>
          </a:prstGeom>
          <a:noFill/>
        </p:spPr>
        <p:txBody>
          <a:bodyPr wrap="square">
            <a:spAutoFit/>
          </a:bodyPr>
          <a:lstStyle/>
          <a:p>
            <a:pPr>
              <a:buNone/>
            </a:pPr>
            <a:r>
              <a:rPr lang="en-IN" dirty="0"/>
              <a:t>The chart compares </a:t>
            </a:r>
            <a:r>
              <a:rPr lang="en-IN" b="1" dirty="0"/>
              <a:t>agricultural yield across different crops and seasons</a:t>
            </a:r>
            <a:r>
              <a:rPr lang="en-IN" dirty="0"/>
              <a:t>. Most crops show relatively low and stable yield values, while </a:t>
            </a:r>
            <a:r>
              <a:rPr lang="en-IN" b="1" dirty="0"/>
              <a:t>Sugarcane has significantly higher yields and greater variation</a:t>
            </a:r>
            <a:r>
              <a:rPr lang="en-IN" dirty="0"/>
              <a:t> across Kharif, Rabi, and Zaid seasons. This indicates that crop type and seasonal conditions can have a strong impact on agricultural productivity.</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1EC1DCB-0B00-647E-A6F8-C93BA2000D2E}"/>
              </a:ext>
            </a:extLst>
          </p:cNvPr>
          <p:cNvSpPr txBox="1"/>
          <p:nvPr/>
        </p:nvSpPr>
        <p:spPr>
          <a:xfrm>
            <a:off x="849086" y="536224"/>
            <a:ext cx="6102220" cy="830997"/>
          </a:xfrm>
          <a:prstGeom prst="rect">
            <a:avLst/>
          </a:prstGeom>
          <a:noFill/>
        </p:spPr>
        <p:txBody>
          <a:bodyPr wrap="square">
            <a:spAutoFit/>
          </a:bodyPr>
          <a:lstStyle/>
          <a:p>
            <a:r>
              <a:rPr lang="en-GB" sz="4800" dirty="0"/>
              <a:t>RESULTS</a:t>
            </a:r>
            <a:endParaRPr lang="en-IN" dirty="0"/>
          </a:p>
        </p:txBody>
      </p:sp>
      <p:pic>
        <p:nvPicPr>
          <p:cNvPr id="6" name="Picture 5">
            <a:extLst>
              <a:ext uri="{FF2B5EF4-FFF2-40B4-BE49-F238E27FC236}">
                <a16:creationId xmlns:a16="http://schemas.microsoft.com/office/drawing/2014/main" id="{F961397F-1D96-6398-294C-BBADA378FD69}"/>
              </a:ext>
            </a:extLst>
          </p:cNvPr>
          <p:cNvPicPr>
            <a:picLocks noChangeAspect="1"/>
          </p:cNvPicPr>
          <p:nvPr/>
        </p:nvPicPr>
        <p:blipFill>
          <a:blip r:embed="rId2"/>
          <a:stretch>
            <a:fillRect/>
          </a:stretch>
        </p:blipFill>
        <p:spPr>
          <a:xfrm>
            <a:off x="4342010" y="1090222"/>
            <a:ext cx="5218591" cy="4954555"/>
          </a:xfrm>
          <a:prstGeom prst="rect">
            <a:avLst/>
          </a:prstGeom>
        </p:spPr>
      </p:pic>
      <p:sp>
        <p:nvSpPr>
          <p:cNvPr id="8" name="TextBox 7">
            <a:extLst>
              <a:ext uri="{FF2B5EF4-FFF2-40B4-BE49-F238E27FC236}">
                <a16:creationId xmlns:a16="http://schemas.microsoft.com/office/drawing/2014/main" id="{ACE4AFA7-2C97-ABDE-D002-FF5A12023907}"/>
              </a:ext>
            </a:extLst>
          </p:cNvPr>
          <p:cNvSpPr txBox="1"/>
          <p:nvPr/>
        </p:nvSpPr>
        <p:spPr>
          <a:xfrm>
            <a:off x="849086" y="1520462"/>
            <a:ext cx="3359021" cy="4524315"/>
          </a:xfrm>
          <a:prstGeom prst="rect">
            <a:avLst/>
          </a:prstGeom>
          <a:noFill/>
        </p:spPr>
        <p:txBody>
          <a:bodyPr wrap="square">
            <a:spAutoFit/>
          </a:bodyPr>
          <a:lstStyle/>
          <a:p>
            <a:pPr>
              <a:buNone/>
            </a:pPr>
            <a:r>
              <a:rPr lang="en-IN" dirty="0"/>
              <a:t>The pair plot shows the relationships between </a:t>
            </a:r>
            <a:r>
              <a:rPr lang="en-IN" b="1" dirty="0"/>
              <a:t>average temperature, rainfall, humidity, agricultural yield, and profit</a:t>
            </a:r>
            <a:r>
              <a:rPr lang="en-IN" dirty="0"/>
              <a:t> across the Kharif, Rabi, and Zaid seasons. It highlights clear seasonal differences in environmental conditions and agricultural performance. The analysis also shows relationships between </a:t>
            </a:r>
            <a:r>
              <a:rPr lang="en-IN" b="1" dirty="0"/>
              <a:t>yield and profit</a:t>
            </a:r>
            <a:r>
              <a:rPr lang="en-IN" dirty="0"/>
              <a:t>, helping identify how changes in agricultural productivity can influence economic outcomes.</a:t>
            </a:r>
          </a:p>
        </p:txBody>
      </p:sp>
    </p:spTree>
    <p:extLst>
      <p:ext uri="{BB962C8B-B14F-4D97-AF65-F5344CB8AC3E}">
        <p14:creationId xmlns:p14="http://schemas.microsoft.com/office/powerpoint/2010/main" val="1109722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F41BA8F-79C0-B191-5332-EC39B6F08A69}"/>
              </a:ext>
            </a:extLst>
          </p:cNvPr>
          <p:cNvPicPr>
            <a:picLocks noChangeAspect="1"/>
          </p:cNvPicPr>
          <p:nvPr/>
        </p:nvPicPr>
        <p:blipFill>
          <a:blip r:embed="rId3"/>
          <a:stretch>
            <a:fillRect/>
          </a:stretch>
        </p:blipFill>
        <p:spPr>
          <a:xfrm>
            <a:off x="4169257" y="1201586"/>
            <a:ext cx="4793504" cy="4945334"/>
          </a:xfrm>
          <a:prstGeom prst="rect">
            <a:avLst/>
          </a:prstGeom>
        </p:spPr>
      </p:pic>
      <p:sp>
        <p:nvSpPr>
          <p:cNvPr id="9" name="TextBox 8">
            <a:extLst>
              <a:ext uri="{FF2B5EF4-FFF2-40B4-BE49-F238E27FC236}">
                <a16:creationId xmlns:a16="http://schemas.microsoft.com/office/drawing/2014/main" id="{9C32D402-6CDB-0199-CA91-D6D03A08C58D}"/>
              </a:ext>
            </a:extLst>
          </p:cNvPr>
          <p:cNvSpPr txBox="1"/>
          <p:nvPr/>
        </p:nvSpPr>
        <p:spPr>
          <a:xfrm>
            <a:off x="775548" y="1608410"/>
            <a:ext cx="2939143" cy="3693319"/>
          </a:xfrm>
          <a:prstGeom prst="rect">
            <a:avLst/>
          </a:prstGeom>
          <a:noFill/>
        </p:spPr>
        <p:txBody>
          <a:bodyPr wrap="square">
            <a:spAutoFit/>
          </a:bodyPr>
          <a:lstStyle/>
          <a:p>
            <a:pPr>
              <a:buNone/>
            </a:pPr>
            <a:r>
              <a:rPr lang="en-IN" dirty="0"/>
              <a:t>The pie chart shows the </a:t>
            </a:r>
            <a:r>
              <a:rPr lang="en-IN" b="1" dirty="0"/>
              <a:t>percentage distribution of agricultural records across seasons</a:t>
            </a:r>
            <a:r>
              <a:rPr lang="en-IN" dirty="0"/>
              <a:t>. </a:t>
            </a:r>
            <a:r>
              <a:rPr lang="en-IN" b="1" dirty="0"/>
              <a:t>Kharif</a:t>
            </a:r>
            <a:r>
              <a:rPr lang="en-IN" dirty="0"/>
              <a:t> has the highest share (</a:t>
            </a:r>
            <a:r>
              <a:rPr lang="en-IN" b="1" dirty="0"/>
              <a:t>44.5%</a:t>
            </a:r>
            <a:r>
              <a:rPr lang="en-IN" dirty="0"/>
              <a:t>), followed by </a:t>
            </a:r>
            <a:r>
              <a:rPr lang="en-IN" b="1" dirty="0"/>
              <a:t>Rabi (40.7%)</a:t>
            </a:r>
            <a:r>
              <a:rPr lang="en-IN" dirty="0"/>
              <a:t>, while </a:t>
            </a:r>
            <a:r>
              <a:rPr lang="en-IN" b="1" dirty="0"/>
              <a:t>Zaid (14.8%)</a:t>
            </a:r>
            <a:r>
              <a:rPr lang="en-IN" dirty="0"/>
              <a:t> has the lowest share. This shows that most agricultural activities in the dataset are concentrated during the </a:t>
            </a:r>
            <a:r>
              <a:rPr lang="en-IN" b="1" dirty="0"/>
              <a:t>Kharif and Rabi seasons</a:t>
            </a:r>
            <a:r>
              <a:rPr lang="en-IN" dirty="0"/>
              <a:t>.</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586</TotalTime>
  <Words>668</Words>
  <Application>Microsoft Office PowerPoint</Application>
  <PresentationFormat>Widescreen</PresentationFormat>
  <Paragraphs>50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vt:lpstr>
      <vt:lpstr>PROBLEM  STATEMENT</vt:lpstr>
      <vt:lpstr>PowerPoint Presentation</vt:lpstr>
      <vt:lpstr>WHO ARE THE END USERS?</vt:lpstr>
      <vt:lpstr>Technology Used</vt:lpstr>
      <vt:lpstr>RESULTS </vt:lpstr>
      <vt:lpstr>RESULTS </vt:lpstr>
      <vt:lpstr>RESULTS </vt:lpstr>
      <vt:lpstr>RESULTS </vt:lpstr>
      <vt:lpstr>RESULTS </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Darsan Mannem</cp:lastModifiedBy>
  <cp:revision>98</cp:revision>
  <dcterms:created xsi:type="dcterms:W3CDTF">2021-07-11T13:13:15Z</dcterms:created>
  <dcterms:modified xsi:type="dcterms:W3CDTF">2026-09-03T17:10:46Z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